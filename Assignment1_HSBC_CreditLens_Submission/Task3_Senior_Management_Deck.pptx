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f704a048de4d96" /><Relationship Type="http://schemas.openxmlformats.org/officeDocument/2006/relationships/extended-properties" Target="/docProps/app.xml" Id="R5f44675c650a4dd6" /><Relationship Type="http://schemas.openxmlformats.org/officeDocument/2006/relationships/officeDocument" Target="/ppt/presentation.xml" Id="R4cbf3972fa8540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2c5356607049af"/>
  </p:sldMasterIdLst>
  <p:notesMasterIdLst>
    <p:notesMasterId xmlns:r="http://schemas.openxmlformats.org/officeDocument/2006/relationships" r:id="R300ee3a17eb44b15"/>
  </p:notesMasterIdLst>
  <p:sldIdLst>
    <p:sldId xmlns:r="http://schemas.openxmlformats.org/officeDocument/2006/relationships" id="256" r:id="R8668dd1c7bfb41bf"/>
    <p:sldId xmlns:r="http://schemas.openxmlformats.org/officeDocument/2006/relationships" id="257" r:id="Rf98b8588f3564718"/>
    <p:sldId xmlns:r="http://schemas.openxmlformats.org/officeDocument/2006/relationships" id="258" r:id="R66be9548dbf0470f"/>
    <p:sldId xmlns:r="http://schemas.openxmlformats.org/officeDocument/2006/relationships" id="259" r:id="Rcdeda81d8270476f"/>
    <p:sldId xmlns:r="http://schemas.openxmlformats.org/officeDocument/2006/relationships" id="260" r:id="R40cb548eaf7a414c"/>
    <p:sldId xmlns:r="http://schemas.openxmlformats.org/officeDocument/2006/relationships" id="261" r:id="R90a8b13a37554aa5"/>
    <p:sldId xmlns:r="http://schemas.openxmlformats.org/officeDocument/2006/relationships" id="262" r:id="Rcaf4b7f73fb44a5f"/>
    <p:sldId xmlns:r="http://schemas.openxmlformats.org/officeDocument/2006/relationships" id="263" r:id="R786c1dcf0fff4537"/>
    <p:sldId xmlns:r="http://schemas.openxmlformats.org/officeDocument/2006/relationships" id="264" r:id="R2777161cecb9448d"/>
    <p:sldId xmlns:r="http://schemas.openxmlformats.org/officeDocument/2006/relationships" id="265" r:id="R8e47d091d0bd4e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c5356607049af" /><Relationship Type="http://schemas.openxmlformats.org/officeDocument/2006/relationships/theme" Target="/ppt/theme/theme1.xml" Id="R4bde34c5614840f4" /><Relationship Type="http://schemas.openxmlformats.org/officeDocument/2006/relationships/notesMaster" Target="/ppt/notesMasters/notesMaster1.xml" Id="R300ee3a17eb44b15" /><Relationship Type="http://schemas.openxmlformats.org/officeDocument/2006/relationships/presProps" Target="/ppt/presProps.xml" Id="R392770ce19564787" /><Relationship Type="http://schemas.openxmlformats.org/officeDocument/2006/relationships/viewProps" Target="/ppt/viewProps.xml" Id="Rc9369ca8fd4d4501" /><Relationship Type="http://schemas.openxmlformats.org/officeDocument/2006/relationships/tableStyles" Target="/ppt/tableStyles.xml" Id="R498aa5d92c644972" /><Relationship Type="http://schemas.openxmlformats.org/officeDocument/2006/relationships/slide" Target="/ppt/slides/slide1.xml" Id="R8668dd1c7bfb41bf" /><Relationship Type="http://schemas.openxmlformats.org/officeDocument/2006/relationships/slide" Target="/ppt/slides/slide2.xml" Id="Rf98b8588f3564718" /><Relationship Type="http://schemas.openxmlformats.org/officeDocument/2006/relationships/slide" Target="/ppt/slides/slide3.xml" Id="R66be9548dbf0470f" /><Relationship Type="http://schemas.openxmlformats.org/officeDocument/2006/relationships/slide" Target="/ppt/slides/slide4.xml" Id="Rcdeda81d8270476f" /><Relationship Type="http://schemas.openxmlformats.org/officeDocument/2006/relationships/slide" Target="/ppt/slides/slide5.xml" Id="R40cb548eaf7a414c" /><Relationship Type="http://schemas.openxmlformats.org/officeDocument/2006/relationships/slide" Target="/ppt/slides/slide6.xml" Id="R90a8b13a37554aa5" /><Relationship Type="http://schemas.openxmlformats.org/officeDocument/2006/relationships/slide" Target="/ppt/slides/slide7.xml" Id="Rcaf4b7f73fb44a5f" /><Relationship Type="http://schemas.openxmlformats.org/officeDocument/2006/relationships/slide" Target="/ppt/slides/slide8.xml" Id="R786c1dcf0fff4537" /><Relationship Type="http://schemas.openxmlformats.org/officeDocument/2006/relationships/slide" Target="/ppt/slides/slide9.xml" Id="R2777161cecb9448d" /><Relationship Type="http://schemas.openxmlformats.org/officeDocument/2006/relationships/slide" Target="/ppt/slides/slide10.xml" Id="R8e47d091d0bd4e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537bf78a8042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ac02329aff41ab" /><Relationship Type="http://schemas.openxmlformats.org/officeDocument/2006/relationships/notesMaster" Target="/ppt/notesMasters/notesMaster1.xml" Id="R0020c48088174e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4c9791e4ec477e" /><Relationship Type="http://schemas.openxmlformats.org/officeDocument/2006/relationships/notesMaster" Target="/ppt/notesMasters/notesMaster1.xml" Id="Rfb4bedc1962c49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839fb32f0c4e9d" /><Relationship Type="http://schemas.openxmlformats.org/officeDocument/2006/relationships/notesMaster" Target="/ppt/notesMasters/notesMaster1.xml" Id="Rdc7a9e93779348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1ca4813df24e70" /><Relationship Type="http://schemas.openxmlformats.org/officeDocument/2006/relationships/notesMaster" Target="/ppt/notesMasters/notesMaster1.xml" Id="R711465a6f52f45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383966a1214091" /><Relationship Type="http://schemas.openxmlformats.org/officeDocument/2006/relationships/notesMaster" Target="/ppt/notesMasters/notesMaster1.xml" Id="R18ad9ee3b31e41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fce11f51fd42b4" /><Relationship Type="http://schemas.openxmlformats.org/officeDocument/2006/relationships/notesMaster" Target="/ppt/notesMasters/notesMaster1.xml" Id="R9c67141dbcd04c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ec453f5aa44f3b" /><Relationship Type="http://schemas.openxmlformats.org/officeDocument/2006/relationships/notesMaster" Target="/ppt/notesMasters/notesMaster1.xml" Id="R13406efb0c5a40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769f80e85f451e" /><Relationship Type="http://schemas.openxmlformats.org/officeDocument/2006/relationships/notesMaster" Target="/ppt/notesMasters/notesMaster1.xml" Id="R6b18cc169ae44e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013b6be2f84f19" /><Relationship Type="http://schemas.openxmlformats.org/officeDocument/2006/relationships/notesMaster" Target="/ppt/notesMasters/notesMaster1.xml" Id="R46dcaeb8108343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02f9c7deef4e4f" /><Relationship Type="http://schemas.openxmlformats.org/officeDocument/2006/relationships/notesMaster" Target="/ppt/notesMasters/notesMaster1.xml" Id="R479b15e4a6fc4b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1971736224ac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aba16d1667a43cc" /><Relationship Type="http://schemas.openxmlformats.org/officeDocument/2006/relationships/slideLayout" Target="/ppt/slideLayouts/slideLayout2.xml" Id="R4460eb6ed23c40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60eb6ed23c40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99d4f145f4311" /><Relationship Type="http://schemas.openxmlformats.org/officeDocument/2006/relationships/notesSlide" Target="/ppt/notesSlides/notesSlide1.xml" Id="Rf4804e0f807940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c62b5df39f4a97" /><Relationship Type="http://schemas.openxmlformats.org/officeDocument/2006/relationships/notesSlide" Target="/ppt/notesSlides/notesSlide2.xml" Id="R16eb5719ae9d43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7706f0b45849cc" /><Relationship Type="http://schemas.openxmlformats.org/officeDocument/2006/relationships/notesSlide" Target="/ppt/notesSlides/notesSlide3.xml" Id="R945e66607f1146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a0220e6364cf7" /><Relationship Type="http://schemas.openxmlformats.org/officeDocument/2006/relationships/notesSlide" Target="/ppt/notesSlides/notesSlide4.xml" Id="R382c6ad3c7384d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21f2b4a5244531" /><Relationship Type="http://schemas.openxmlformats.org/officeDocument/2006/relationships/notesSlide" Target="/ppt/notesSlides/notesSlide5.xml" Id="R93757d83e21a4b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24de5ef66f468f" /><Relationship Type="http://schemas.openxmlformats.org/officeDocument/2006/relationships/notesSlide" Target="/ppt/notesSlides/notesSlide6.xml" Id="Rc163dc236b4141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b14e9d04814a28" /><Relationship Type="http://schemas.openxmlformats.org/officeDocument/2006/relationships/notesSlide" Target="/ppt/notesSlides/notesSlide7.xml" Id="Rb45b1373535f4c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4e851ae80a47aa" /><Relationship Type="http://schemas.openxmlformats.org/officeDocument/2006/relationships/notesSlide" Target="/ppt/notesSlides/notesSlide8.xml" Id="R65f3d08ae6d74b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dfcda59ee6490d" /><Relationship Type="http://schemas.openxmlformats.org/officeDocument/2006/relationships/notesSlide" Target="/ppt/notesSlides/notesSlide9.xml" Id="R7e6facc852a14a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4c0a630d3e436f" /><Relationship Type="http://schemas.openxmlformats.org/officeDocument/2006/relationships/notesSlide" Target="/ppt/notesSlides/notesSlide10.xml" Id="R3fc80a631a3a4c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FF819D-978F-4818-8A8A-780349B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9F51D-907E-425C-9BB2-4D9679B8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9CD5B-9FDC-46D1-AF0F-EA601C00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EXECUTIVE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198D9-AD20-4154-B803-CE45CD4F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HSBC CreditLens turns AI credit scoring into jurisdiction-specific compliance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015F5-0136-46DB-AAB7-E5BE463D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63A4E-26B8-4FEC-9DA8-2F0A7B71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72E66-265C-49EE-9CC8-18026216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CEE11-DDF1-447A-9A2C-214E275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AI credit models create explainability, fairness and governance questions that differ sharply between the US and Hong Kong.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16FCC-E1A2-437F-9B92-52EF5057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64BF5-F98E-4576-9000-290C134D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229FF-0600-4735-A099-E7C70648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BF37E-2678-45F2-8EA9-9931A8FC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A jurisdiction-aware dashboard that reads model outputs, applies local rule parameters, and produces management-ready alerts.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C2B08-C73E-4D36-9B53-CA8856E9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A8260-00B7-403C-97D0-3E18348B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9E92A-46C1-49A9-8454-F06CF947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B7E9A-116E-4EE8-BD7F-75546778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It does not make legal conclusions or replace credit officers; it makes the risks visible enough for accountable judgement.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0F017-17E6-4EA7-B5BD-87552766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3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38D"/>
                </a:solidFill>
                <a:latin typeface="Aptos"/>
                <a:ea typeface="Aptos"/>
                <a:cs typeface="Aptos"/>
              </a:rPr>
              <a:t>HSBC CreditLens | MH6822 Assignment 1 | 01</a:t>
            </a:r>
          </a:p>
        </p:txBody>
      </p:sp>
    </p:spTree>
    <p:extLst>
      <p:ext uri="{BB962C8B-B14F-4D97-AF65-F5344CB8AC3E}">
        <p14:creationId xmlns:p14="http://schemas.microsoft.com/office/powerpoint/2010/main" val="649985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742B37-0FB9-488F-ACED-3FD5A25A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56480-0C98-4111-8C00-095BB509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18281-678C-45BE-9248-4DD3EF14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WHY HSBC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74BC7-E3DB-433C-9664-3230D179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A global bank needs one model-control language without pretending regulation is the same everywhere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21E66-A005-401B-A689-A664DDE6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098A5-27C2-4548-9295-92866B66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205E7-C187-4C47-9B5C-DD4B9222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Entity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516D7-CF7F-4B0A-A030-54C4AD5C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HSBC has material operations in Hong Kong and the United States, making it a realistic cross-border RegTech client.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63A97-243D-469C-BBD4-AC7F8CFE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8DD5D-5F4B-48F0-BB3D-111EBB0B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5D1AB-ED48-4EDC-B1CD-DECF787B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Domain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9F74E-4BE3-4341-83AD-22B4AF1D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Consumer credit scoring is high-impact, data-rich, and exposed to fairness, explainability, privacy and governance expectations.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66228-6426-47AF-8F62-3789BA9C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4046D-CAD8-4BC2-8449-52685989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4DF3D-F29C-4635-A5F4-CCCC9642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Management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B1AAF-3F38-478B-9EFB-0EC6CA6E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Senior leaders need a concise view of where the model is performing, where it is unfair, and where local rules change the answer.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E0CBB-C3A7-4FC2-AFAF-A10A30A0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3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38D"/>
                </a:solidFill>
                <a:latin typeface="Aptos"/>
                <a:ea typeface="Aptos"/>
                <a:cs typeface="Aptos"/>
              </a:rPr>
              <a:t>HSBC CreditLens | MH6822 Assignment 1 | 02</a:t>
            </a:r>
          </a:p>
        </p:txBody>
      </p:sp>
    </p:spTree>
    <p:extLst>
      <p:ext uri="{BB962C8B-B14F-4D97-AF65-F5344CB8AC3E}">
        <p14:creationId xmlns:p14="http://schemas.microsoft.com/office/powerpoint/2010/main" val="9825340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09B451-3B93-44DE-A90F-5B1AEFF0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20502-86E6-41AF-8D57-40289D66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9ED17-FBCF-4703-BCD9-6B554F3A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REGULATORY DIVERGENCE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7F4C2-1735-4D6B-BF08-84A64BAF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The US asks 'can you explain the denial?' while Hong Kong asks 'is the AI governed proportionately?'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ED58C-59A2-4C3C-8EB5-C297775E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AEFDA-4C38-4D48-9782-7ADBE38F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BE4CC-19B5-44B2-A166-EB671681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US lens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F018A-C1E7-4199-950A-9DBB5156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ECOA / Regulation B: specific principal reasons for adverse action, fair lending screening, and defensible use of complex algorithms.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E0701-3F09-49DA-B518-F12518E9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F0C8D-5735-4514-9F74-FECB92B7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00D8-3B6C-4972-ACBF-BE7A308A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Hong Kong lens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890EB-E110-4EA6-AEB3-BF086065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HKMA and PCPD: accountability, validation, human oversight, transparency, privacy and consumer credit data controls.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C1888-DFDA-4C05-8907-A246ECDC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7C9C5-708D-4549-BA67-5AC89ED0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8BAEE-1EAB-46BF-B845-79D94A18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Design implication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06A4D-1C51-439B-802E-632DA365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same score should produce different evidence packs depending on the jurisdiction switch.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9D155-AF3A-42E2-A0B8-5A9FD9DD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3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38D"/>
                </a:solidFill>
                <a:latin typeface="Aptos"/>
                <a:ea typeface="Aptos"/>
                <a:cs typeface="Aptos"/>
              </a:rPr>
              <a:t>HSBC CreditLens | MH6822 Assignment 1 | 03</a:t>
            </a:r>
          </a:p>
        </p:txBody>
      </p:sp>
    </p:spTree>
    <p:extLst>
      <p:ext uri="{BB962C8B-B14F-4D97-AF65-F5344CB8AC3E}">
        <p14:creationId xmlns:p14="http://schemas.microsoft.com/office/powerpoint/2010/main" val="17751178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471B4-E765-4B31-B6AF-63BD3C9B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8334E-16D4-4B90-83FF-7197654C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93FB2-F45F-4DB1-A486-B79FD64C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TOOL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BB8D0-4497-4A83-A670-DABA7DE6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A rule configuration layer sits between model outputs and compliance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BE85B-3622-4004-B915-FF7C340E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model is deliberately separate from jurisdiction logic so rule changes do not require model rebuilds.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ACA7E-43FA-4801-A814-81165207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75C53-7039-4053-B1C3-C99FEB2A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671B0-A363-492E-893D-FFABD524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Synthetic applicant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CD2D5-B6AA-4A82-8698-7A2E4CC8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Credit attributes, jurisdiction, protected-group field and default outcome.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78EED-07A8-410D-A04A-ED82C937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652B8-99F7-44FB-8E25-4D23A1E8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5B3D3-4F57-4277-9BD0-202FFBDE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Credit risk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87743-EC0D-4883-9ED8-DCD52E2C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Transparent logistic model estimates 12-month probability of default.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D1F91-821E-4D8D-937F-86418C2C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2000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032F4-97E0-4247-9E34-4BD084CF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FEF08-56CE-4570-8053-9B6C9205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288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Jurisdiction config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0F762-6A67-4669-9C53-3AA0B5C0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1657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US: adverse action + fair lending.</a:t>
            </a:r>
          </a:p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HK: AI governance + human oversight.</a:t>
            </a:r>
          </a:p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Rules are versioned parameters.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CFCF9-785B-4707-B7E6-D86EFD71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98956-7D63-4DCD-8B84-38801617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725E2-4DB2-49FB-801E-CE6E5B18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3365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Metric 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3273C-0D5A-4330-A822-90D3248D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Approval disparity, adverse impact, equal opportunity, FPR gap and drift.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8B6A4-E5CC-4636-93BC-3A689F31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DFDB9-7BA0-4507-8EED-2EB43E1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73848-86F2-4318-99BB-E482E890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336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Evidence pack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1559F-A16E-44BA-8636-89B6E339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5275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Outputs differ by US or HK mode for management 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33BA9-1D1C-49F2-9F3B-F29F04B9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153FD-E5E0-492F-A806-C6F0AAA6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86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2632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A9723C-4A7E-4086-A5CC-1EF34021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711AA5-AD02-4E66-B453-C5FE9E86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86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2632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5ABD22-34C7-4841-8894-97640A7D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3DC2BA-5B58-4CEF-B339-EF46CAB5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86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26323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374E9B-5E56-46A2-ABB1-4FBD0AB4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B28CC-2DF8-41FB-837B-6AD50E10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86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323F"/>
          </a:solidFill>
          <a:ln xmlns:a="http://schemas.openxmlformats.org/drawingml/2006/main" w="0">
            <a:solidFill>
              <a:srgbClr val="26323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12438D-9003-4A05-9B0F-9D3C310F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291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B001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865A61-E8D4-4611-99D8-E726DFA2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95800"/>
            <a:ext cx="3771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Judgement stays with accountable humans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9579F0-6785-464C-ABCD-60F2AE22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3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38D"/>
                </a:solidFill>
                <a:latin typeface="Aptos"/>
                <a:ea typeface="Aptos"/>
                <a:cs typeface="Aptos"/>
              </a:rPr>
              <a:t>HSBC CreditLens | MH6822 Assignment 1 | 04</a:t>
            </a:r>
          </a:p>
        </p:txBody>
      </p:sp>
    </p:spTree>
    <p:extLst>
      <p:ext uri="{BB962C8B-B14F-4D97-AF65-F5344CB8AC3E}">
        <p14:creationId xmlns:p14="http://schemas.microsoft.com/office/powerpoint/2010/main" val="391420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2EC17-B613-4099-8D52-59B9E71F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CE838-A14A-4D15-889C-02183BF8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95CB4-A47C-4772-B5D6-85054A85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QUANTITATIVE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05529-6AD3-41B3-AB6A-BC7547CA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Synthetic-data prototype shows the metrics senior management would monitor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D2DEF-86D7-4DAB-AF69-D9B369CC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These are monitoring signals, not legal conclusions.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B1765-7886-4536-8BBD-F5ECEFBC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01D82-9A8D-4D3C-A676-A57E72B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MODEL 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85D68-E4AB-4017-8C57-52418C1C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C9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15C97"/>
                </a:solidFill>
                <a:latin typeface="Aptos"/>
                <a:ea typeface="Aptos"/>
                <a:cs typeface="Aptos"/>
              </a:rPr>
              <a:t>0.671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80F99-9D57-40F6-BD60-975CF19B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Transparent logistic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3F12D-DC6C-4657-8B05-86114BE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5050C-C3E6-4CA4-A2A8-1742B131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28850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APPROVAL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1C701-0B94-42B9-8DF3-53063BF3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19350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A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7A7A"/>
                </a:solidFill>
                <a:latin typeface="Aptos"/>
                <a:ea typeface="Aptos"/>
                <a:cs typeface="Aptos"/>
              </a:rPr>
              <a:t>26.4%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E2AF9-67CD-43E3-8717-EB5479CB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09875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PD threshold set at 0.34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D5A6E-CA51-4A56-91E8-E8866470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59CB1-C8F6-4733-A396-56FD7BB9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US ADVERSE 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7AA21-7812-474A-BC16-56849634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0.57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2AEB2-A98B-439F-A58F-4E36F7E7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9875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Screen against 0.80 floor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29F3E-3CEF-4007-8076-AFBBE0FF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09550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D42A2-65D1-4C8D-8DC9-43645387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28850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HK ADVERSE IMPACT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8B335-D718-4C60-B977-BA396A9E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19350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28B0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28B00"/>
                </a:solidFill>
                <a:latin typeface="Aptos"/>
                <a:ea typeface="Aptos"/>
                <a:cs typeface="Aptos"/>
              </a:rPr>
              <a:t>0.54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EB5E7-6CFC-459E-9487-681B37D5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09875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Governance trigger at 0.85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B29E1-5CE6-41E4-88AC-7E7A739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What management learns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CD633-CCE4-4FCB-ACF7-1D80FEDE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6323F"/>
                </a:solidFill>
                <a:latin typeface="Aptos"/>
                <a:ea typeface="Aptos"/>
                <a:cs typeface="Aptos"/>
              </a:rPr>
              <a:t>The model can look statistically useful while still requiring fairness review. The jurisdiction layer changes the action: US mode asks whether a denied applicant received specific reasons; Hong Kong mode asks whether governance controls are proportionate and evidenced.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B6CD8-6A69-452E-A60F-3CD7143A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3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38D"/>
                </a:solidFill>
                <a:latin typeface="Aptos"/>
                <a:ea typeface="Aptos"/>
                <a:cs typeface="Aptos"/>
              </a:rPr>
              <a:t>HSBC CreditLens | MH6822 Assignment 1 | 05</a:t>
            </a:r>
          </a:p>
        </p:txBody>
      </p:sp>
    </p:spTree>
    <p:extLst>
      <p:ext uri="{BB962C8B-B14F-4D97-AF65-F5344CB8AC3E}">
        <p14:creationId xmlns:p14="http://schemas.microsoft.com/office/powerpoint/2010/main" val="10343551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D2F832-64C3-475A-9E5D-DB999FF7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38BED-94F4-4E4F-864F-AFBEF2F1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F45A3-8EFE-4F5A-A0F3-E4185AF0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US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46720-5121-403D-A44D-68AE5B4F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US mode converts denied applications into adverse-action and fair-lending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34AFA-31E6-4CEC-9584-EA24F20F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F3D22-F80D-43B9-8977-3C36A67A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3F4A7-7327-477E-B1E4-E5DEA02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Adverse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D979A-5BA3-4F87-AA62-CECDAA13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For denied applicants, the tool extracts top model drivers and maps them to specific principal denial reasons.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F92CD-0C6C-427E-B8DE-FF223D3B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4D882-C325-411A-AF36-49522F0C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8B562-0940-4F8D-B8E4-96067C29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Fair lending screen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C805D-DFA8-4E2C-90FB-283A6C52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Approval-rate disparity and adverse impact ratio are calculated by protected group.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CE456-BFC4-4AC5-BE35-A1EAA55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01ACD-1F72-47CA-8CAC-E3A03488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0E5A6-FFB3-4BF4-987A-8819F273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Escalation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0168D-0C21-49F5-96CB-ACDE199F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Near-threshold or disparity-triggering decisions are routed for human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B5518-8111-469D-A336-15403A13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3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38D"/>
                </a:solidFill>
                <a:latin typeface="Aptos"/>
                <a:ea typeface="Aptos"/>
                <a:cs typeface="Aptos"/>
              </a:rPr>
              <a:t>HSBC CreditLens | MH6822 Assignment 1 | 06</a:t>
            </a:r>
          </a:p>
        </p:txBody>
      </p:sp>
    </p:spTree>
    <p:extLst>
      <p:ext uri="{BB962C8B-B14F-4D97-AF65-F5344CB8AC3E}">
        <p14:creationId xmlns:p14="http://schemas.microsoft.com/office/powerpoint/2010/main" val="20561409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932B8-B191-4D69-B4A9-9942B0D7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67ACE-508B-425C-A7DD-F7E638A2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2A2B3-F1A1-4E33-91AA-119E7FE0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HONG KONG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EF5BE-1005-4B6D-9BF1-DCC55596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Hong Kong mode emphasizes governance, proportionality and human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E546A-A976-4413-9A1C-BF84C74A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BA349-411F-4CB6-BA8C-65D38930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60CB0-EE8C-4F34-A55E-D7177BB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Governance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8923F-546D-40C4-89CF-994DBD0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Model validation, outcome monitoring, human review bands and privacy assessment are required artefacts.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291E2-703E-4618-9F6E-20F985A5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CA6E8-18FD-416D-8E88-9B115860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75889-53B6-4FAE-828D-20CE64F3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Consumer credit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C9B31-7263-4F30-92F1-E7ABCB3F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The tool records whether data use aligns with consumer credit data and PDPO-oriented expectations.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1ADB2-84B3-42AC-94EE-663B97E9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BD2BA-4A6B-42AE-A791-675AEEC9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1BE5F-0E1B-49EC-B3A5-E53D0D1F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Senior 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EEA02-FFA6-4093-9A59-06544766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Outputs are framed for management review rather than as automated legal sign-off.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5F4AC-23D8-41E7-AE0B-5A26D02A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3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38D"/>
                </a:solidFill>
                <a:latin typeface="Aptos"/>
                <a:ea typeface="Aptos"/>
                <a:cs typeface="Aptos"/>
              </a:rPr>
              <a:t>HSBC CreditLens | MH6822 Assignment 1 | 07</a:t>
            </a:r>
          </a:p>
        </p:txBody>
      </p:sp>
    </p:spTree>
    <p:extLst>
      <p:ext uri="{BB962C8B-B14F-4D97-AF65-F5344CB8AC3E}">
        <p14:creationId xmlns:p14="http://schemas.microsoft.com/office/powerpoint/2010/main" val="5560816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17304-5829-42C8-8A97-A6470459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605AB-B155-43C6-8C16-C3D2C44E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4D520-E211-4940-9BD6-D1C09E5C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FAILURE MODES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5EE43-5C86-49CD-A70C-3F9C67E0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The product is most valuable when it admits where it can fail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E22A2-5C65-46F1-A74C-81249996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64A58-1AAF-416F-924A-C44D6DF1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FA8DB-45C4-4343-BC00-759FCE84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Rule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44DE8-8E16-40B3-89B2-CB10E868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A mid-period rule update can invalidate prior evidence unless rule versions are logged.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3D08D-8E78-48BA-A3FD-6BC22851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7B06C-A7E8-4A84-8908-E8A8D86F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D6F02-B482-48B1-89E3-CDFDE8C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Model drift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DBDE5-B2C9-4BEE-BD04-28E4F65D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A model can pass validation and later create group disparity as applicant mix shifts.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99359-D5C0-4CA0-B814-1BA2DF0D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E551B-EAED-4C6B-93ED-8B989B8B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86E8A-8C10-403D-99EB-065778ED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Misconfiguration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416DA-C2AC-4B10-A61F-076349C1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Applying US evidence templates in Hong Kong, or vice versa, creates false comfort.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CE39A-49F6-4BB5-A6BC-E3AAB6EE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3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38D"/>
                </a:solidFill>
                <a:latin typeface="Aptos"/>
                <a:ea typeface="Aptos"/>
                <a:cs typeface="Aptos"/>
              </a:rPr>
              <a:t>HSBC CreditLens | MH6822 Assignment 1 | 08</a:t>
            </a:r>
          </a:p>
        </p:txBody>
      </p:sp>
    </p:spTree>
    <p:extLst>
      <p:ext uri="{BB962C8B-B14F-4D97-AF65-F5344CB8AC3E}">
        <p14:creationId xmlns:p14="http://schemas.microsoft.com/office/powerpoint/2010/main" val="17065270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033001-E5E5-45DF-8306-140A415C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200FB-0ABD-4C6D-9A38-3EE89187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F8D4F-9F24-4DFF-9F27-9C40D82B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BOUNDARY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7540C-4C66-4025-8A63-9B741E67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The tool improves governance because it refuses to automate judgement away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9FB9E-E76B-4B78-B14B-12852383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B86C1-35EE-4B69-AD06-CF901E89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38AC6-BF17-40F7-96AB-FF442F41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Does not 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730F5-4941-4729-9D92-55DE54EE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No production credit decisioning, no legal opinion, no guarantee of compliance, no replacement for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8B0E0-5BA4-4825-BF35-FDD6B07B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49026-4305-477B-ADA1-10545E7B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0EC45-D64A-4908-8AC9-9CE07632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Does 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A28A7-F9AF-4D1D-8D70-A6F20E8A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Turns model outputs into jurisdiction-specific metrics, explanations, review triggers and governance artefacts.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CCCDE-7020-4A4F-94F2-851A0CE1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8EC32-37AC-422E-84FA-16752807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02BAB-E12C-423C-84FA-1989E100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Next 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F4BE4-C092-4932-9046-4ABB8172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Connect to model inventory, add SHAP/LIME, version rule libraries, and integrate legal sign-off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3B4EF-7F91-47FB-86AE-F91412C6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3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38D"/>
                </a:solidFill>
                <a:latin typeface="Aptos"/>
                <a:ea typeface="Aptos"/>
                <a:cs typeface="Aptos"/>
              </a:rPr>
              <a:t>HSBC CreditLens | MH6822 Assignment 1 | 09</a:t>
            </a:r>
          </a:p>
        </p:txBody>
      </p:sp>
    </p:spTree>
    <p:extLst>
      <p:ext uri="{BB962C8B-B14F-4D97-AF65-F5344CB8AC3E}">
        <p14:creationId xmlns:p14="http://schemas.microsoft.com/office/powerpoint/2010/main" val="16394581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EB6D54-6BF0-413D-940A-FE22D8B0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95313-FBE9-4811-8112-D92B5163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6AAD6-2E97-45C7-B19E-E954F51B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00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B0011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3BE3B-FBE6-4773-8EE3-C05F62BE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857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Approve a controlled pilot for HSBC consumer credit model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45B4E-DD75-40AB-A992-A1BD3CD2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38967-9107-4C0A-80AE-B05160BA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00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EC790-BC2C-490C-A158-B1A3422F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Pilot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028D4-850E-4F85-85ED-F789ED60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Use synthetic and historical validation data first; avoid live customer decisioning until controls are tested.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78730-9DA7-480F-880E-AF0E6F00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52765-1195-45CC-ACF9-AF5C9C14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C69CD-9B79-4580-B86C-3AEA44D0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Success criteria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78B21-FC96-41D2-AB71-6CC657FF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Specific US denial reasons, HK governance evidence pack, drift alerts and board-readable reporting.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980F1-5C87-46D7-AA57-2727C199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D5204-BB43-4D07-BF59-B60B3B51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E285E-DE75-440C-97BC-639A335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4FDA2-10BC-4B60-98C9-4E87E263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705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Proceed with a 10-12 week proof of concept owned jointly by Credit Risk, Compliance, Model Risk and Legal.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D466D-52A5-435E-AF77-40E9C7E4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38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38D"/>
                </a:solidFill>
                <a:latin typeface="Aptos"/>
                <a:ea typeface="Aptos"/>
                <a:cs typeface="Aptos"/>
              </a:rPr>
              <a:t>HSBC CreditLens | MH6822 Assignment 1 | 10</a:t>
            </a:r>
          </a:p>
        </p:txBody>
      </p:sp>
    </p:spTree>
    <p:extLst>
      <p:ext uri="{BB962C8B-B14F-4D97-AF65-F5344CB8AC3E}">
        <p14:creationId xmlns:p14="http://schemas.microsoft.com/office/powerpoint/2010/main" val="1481396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2026-05-19T03:57:40.4650000Z</dcterms:created>
  <dcterms:modified xsi:type="dcterms:W3CDTF">2026-05-19T03:57:40.4650000Z</dcterms:modified>
</coreProperties>
</file>